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 Mon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Mono-regular.fntdata"/><Relationship Id="rId10" Type="http://schemas.openxmlformats.org/officeDocument/2006/relationships/slide" Target="slides/slide5.xml"/><Relationship Id="rId13" Type="http://schemas.openxmlformats.org/officeDocument/2006/relationships/font" Target="fonts/RobotoMono-italic.fntdata"/><Relationship Id="rId12" Type="http://schemas.openxmlformats.org/officeDocument/2006/relationships/font" Target="fonts/RobotoMon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610f6216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a610f6216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610f6216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610f6216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610f62162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610f6216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610f62162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610f62162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145392" y="1311325"/>
            <a:ext cx="6808500" cy="35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99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Case Study</a:t>
            </a:r>
            <a:endParaRPr sz="614"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99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4">
                <a:solidFill>
                  <a:srgbClr val="002060"/>
                </a:solidFill>
              </a:rPr>
              <a:t>Explain how inconsistent Python/library versions can change the behavior of the ML model. What production-readiness steps should the team follow to ensure environment consistency?</a:t>
            </a:r>
            <a:endParaRPr sz="614"/>
          </a:p>
          <a:p>
            <a:pPr indent="0" lvl="0" marL="0" marR="0" rtl="0" algn="l">
              <a:lnSpc>
                <a:spcPct val="1316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4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106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Team Members: </a:t>
            </a:r>
            <a:endParaRPr sz="614"/>
          </a:p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06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1RV23AI006  Adithya Acharya U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1RV23AI007  Aditya Kaushik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1RV23AI04</a:t>
            </a: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0  </a:t>
            </a: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Joseph Rejo Mathew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1RV23AI058  Monil Palak Mehta</a:t>
            </a:r>
            <a:endParaRPr b="1" sz="197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6581612" y="90526"/>
            <a:ext cx="1926142" cy="359755"/>
          </a:xfrm>
          <a:custGeom>
            <a:rect b="b" l="l" r="r" t="t"/>
            <a:pathLst>
              <a:path extrusionOk="0" h="1090168" w="5836793">
                <a:moveTo>
                  <a:pt x="0" y="0"/>
                </a:moveTo>
                <a:lnTo>
                  <a:pt x="5836793" y="0"/>
                </a:lnTo>
                <a:lnTo>
                  <a:pt x="5836793" y="1090168"/>
                </a:lnTo>
                <a:lnTo>
                  <a:pt x="0" y="10901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0" l="0" r="0" t="0"/>
            </a:stretch>
          </a:blipFill>
          <a:ln>
            <a:noFill/>
          </a:ln>
        </p:spPr>
      </p:sp>
      <p:sp>
        <p:nvSpPr>
          <p:cNvPr id="56" name="Google Shape;56;p13"/>
          <p:cNvSpPr/>
          <p:nvPr/>
        </p:nvSpPr>
        <p:spPr>
          <a:xfrm>
            <a:off x="793550" y="179436"/>
            <a:ext cx="1713166" cy="713480"/>
          </a:xfrm>
          <a:custGeom>
            <a:rect b="b" l="l" r="r" t="t"/>
            <a:pathLst>
              <a:path extrusionOk="0" h="1621545" w="3893559">
                <a:moveTo>
                  <a:pt x="0" y="0"/>
                </a:moveTo>
                <a:lnTo>
                  <a:pt x="3893558" y="0"/>
                </a:lnTo>
                <a:lnTo>
                  <a:pt x="3893558" y="1621545"/>
                </a:lnTo>
                <a:lnTo>
                  <a:pt x="0" y="16215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3699" t="0"/>
            </a:stretch>
          </a:blipFill>
          <a:ln>
            <a:noFill/>
          </a:ln>
        </p:spPr>
      </p:sp>
      <p:sp>
        <p:nvSpPr>
          <p:cNvPr id="57" name="Google Shape;57;p13"/>
          <p:cNvSpPr txBox="1"/>
          <p:nvPr/>
        </p:nvSpPr>
        <p:spPr>
          <a:xfrm>
            <a:off x="878741" y="799383"/>
            <a:ext cx="73419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69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Machine Learning Operations</a:t>
            </a:r>
            <a:endParaRPr sz="614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Machine-learning models are deeply tied to the environment that trains and runs them.</a:t>
            </a:r>
            <a:endParaRPr sz="1500">
              <a:solidFill>
                <a:schemeClr val="dk1"/>
              </a:solidFill>
            </a:endParaRPr>
          </a:p>
          <a:p>
            <a:pPr indent="-316706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500">
                <a:solidFill>
                  <a:schemeClr val="dk1"/>
                </a:solidFill>
              </a:rPr>
              <a:t>Libraries like </a:t>
            </a:r>
            <a:r>
              <a:rPr b="1" lang="en" sz="1500">
                <a:solidFill>
                  <a:schemeClr val="dk1"/>
                </a:solidFill>
              </a:rPr>
              <a:t>NumPy, pandas, SciPy, PyTorch, XGBoost</a:t>
            </a:r>
            <a:r>
              <a:rPr lang="en" sz="1500">
                <a:solidFill>
                  <a:schemeClr val="dk1"/>
                </a:solidFill>
              </a:rPr>
              <a:t> rely on C/C++ numerical backends.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500">
                <a:solidFill>
                  <a:schemeClr val="dk1"/>
                </a:solidFill>
              </a:rPr>
              <a:t>Version updates change </a:t>
            </a:r>
            <a:r>
              <a:rPr b="1" lang="en" sz="1500">
                <a:solidFill>
                  <a:schemeClr val="dk1"/>
                </a:solidFill>
              </a:rPr>
              <a:t>random number generation</a:t>
            </a:r>
            <a:r>
              <a:rPr lang="en" sz="1500">
                <a:solidFill>
                  <a:schemeClr val="dk1"/>
                </a:solidFill>
              </a:rPr>
              <a:t>, </a:t>
            </a:r>
            <a:r>
              <a:rPr b="1" lang="en" sz="1500">
                <a:solidFill>
                  <a:schemeClr val="dk1"/>
                </a:solidFill>
              </a:rPr>
              <a:t>floating-point math</a:t>
            </a:r>
            <a:r>
              <a:rPr lang="en" sz="1500">
                <a:solidFill>
                  <a:schemeClr val="dk1"/>
                </a:solidFill>
              </a:rPr>
              <a:t>, and </a:t>
            </a:r>
            <a:r>
              <a:rPr b="1" lang="en" sz="1500">
                <a:solidFill>
                  <a:schemeClr val="dk1"/>
                </a:solidFill>
              </a:rPr>
              <a:t>optimization algorithms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500">
                <a:solidFill>
                  <a:schemeClr val="dk1"/>
                </a:solidFill>
              </a:rPr>
              <a:t>Default behaviors in encoders, scaling, and missing value handling may differ across releases.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500">
                <a:solidFill>
                  <a:schemeClr val="dk1"/>
                </a:solidFill>
              </a:rPr>
              <a:t>Python version upgrades trigger automatic dependency jumps that impact behavior.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500">
                <a:solidFill>
                  <a:schemeClr val="dk1"/>
                </a:solidFill>
              </a:rPr>
              <a:t>Even minor variations lead to different predictions, especially in non-linear or deep learning models.</a:t>
            </a:r>
            <a:endParaRPr sz="1804">
              <a:solidFill>
                <a:srgbClr val="00206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14"/>
          <p:cNvGrpSpPr/>
          <p:nvPr/>
        </p:nvGrpSpPr>
        <p:grpSpPr>
          <a:xfrm>
            <a:off x="908444" y="103899"/>
            <a:ext cx="7653254" cy="989008"/>
            <a:chOff x="0" y="-66675"/>
            <a:chExt cx="21031200" cy="2717801"/>
          </a:xfrm>
        </p:grpSpPr>
        <p:sp>
          <p:nvSpPr>
            <p:cNvPr id="64" name="Google Shape;64;p14"/>
            <p:cNvSpPr/>
            <p:nvPr/>
          </p:nvSpPr>
          <p:spPr>
            <a:xfrm>
              <a:off x="0" y="0"/>
              <a:ext cx="21031200" cy="2651126"/>
            </a:xfrm>
            <a:custGeom>
              <a:rect b="b" l="l" r="r" t="t"/>
              <a:pathLst>
                <a:path extrusionOk="0"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65" name="Google Shape;65;p14"/>
            <p:cNvSpPr txBox="1"/>
            <p:nvPr/>
          </p:nvSpPr>
          <p:spPr>
            <a:xfrm>
              <a:off x="0" y="-66675"/>
              <a:ext cx="21031200" cy="271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302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Why Versions Change Model Behavior</a:t>
              </a:r>
              <a:endParaRPr sz="1702"/>
            </a:p>
          </p:txBody>
        </p:sp>
      </p:grpSp>
      <p:sp>
        <p:nvSpPr>
          <p:cNvPr id="66" name="Google Shape;66;p14"/>
          <p:cNvSpPr/>
          <p:nvPr/>
        </p:nvSpPr>
        <p:spPr>
          <a:xfrm>
            <a:off x="582303" y="128162"/>
            <a:ext cx="1888376" cy="786449"/>
          </a:xfrm>
          <a:custGeom>
            <a:rect b="b" l="l" r="r" t="t"/>
            <a:pathLst>
              <a:path extrusionOk="0" h="1621545" w="3893559">
                <a:moveTo>
                  <a:pt x="0" y="0"/>
                </a:moveTo>
                <a:lnTo>
                  <a:pt x="3893558" y="0"/>
                </a:lnTo>
                <a:lnTo>
                  <a:pt x="3893558" y="1621545"/>
                </a:lnTo>
                <a:lnTo>
                  <a:pt x="0" y="16215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23699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When development and production environments differ, the impact is real and costly.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Same model weights can produce </a:t>
            </a:r>
            <a:r>
              <a:rPr b="1" lang="en" sz="1300">
                <a:solidFill>
                  <a:schemeClr val="dk1"/>
                </a:solidFill>
              </a:rPr>
              <a:t>different outcomes</a:t>
            </a:r>
            <a:r>
              <a:rPr lang="en" sz="1300">
                <a:solidFill>
                  <a:schemeClr val="dk1"/>
                </a:solidFill>
              </a:rPr>
              <a:t> because math kernels changed.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Pickle/joblib models fail or behave differently due to internal structure changes.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Preprocessing outputs shift silently leading to </a:t>
            </a:r>
            <a:r>
              <a:rPr b="1" lang="en" sz="1300">
                <a:solidFill>
                  <a:schemeClr val="dk1"/>
                </a:solidFill>
              </a:rPr>
              <a:t>accuracy loss</a:t>
            </a:r>
            <a:r>
              <a:rPr lang="en" sz="1300">
                <a:solidFill>
                  <a:schemeClr val="dk1"/>
                </a:solidFill>
              </a:rPr>
              <a:t> and </a:t>
            </a:r>
            <a:r>
              <a:rPr b="1" lang="en" sz="1300">
                <a:solidFill>
                  <a:schemeClr val="dk1"/>
                </a:solidFill>
              </a:rPr>
              <a:t>incorrect decisions</a:t>
            </a:r>
            <a:r>
              <a:rPr lang="en" sz="1300">
                <a:solidFill>
                  <a:schemeClr val="dk1"/>
                </a:solidFill>
              </a:rPr>
              <a:t>.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Debugging becomes harder because the issue hides under the stack.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Teams lose trust when “the same model” behaves differently in staging and production.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Result:</a:t>
            </a:r>
            <a:r>
              <a:rPr lang="en" sz="1300">
                <a:solidFill>
                  <a:schemeClr val="dk1"/>
                </a:solidFill>
              </a:rPr>
              <a:t> Business decisions vary unpredictably, increasing risk.</a:t>
            </a:r>
            <a:endParaRPr sz="1700">
              <a:solidFill>
                <a:schemeClr val="dk1"/>
              </a:solidFill>
            </a:endParaRPr>
          </a:p>
        </p:txBody>
      </p:sp>
      <p:grpSp>
        <p:nvGrpSpPr>
          <p:cNvPr id="72" name="Google Shape;72;p15"/>
          <p:cNvGrpSpPr/>
          <p:nvPr/>
        </p:nvGrpSpPr>
        <p:grpSpPr>
          <a:xfrm>
            <a:off x="908444" y="103899"/>
            <a:ext cx="7653254" cy="989008"/>
            <a:chOff x="0" y="-66675"/>
            <a:chExt cx="21031200" cy="2717801"/>
          </a:xfrm>
        </p:grpSpPr>
        <p:sp>
          <p:nvSpPr>
            <p:cNvPr id="73" name="Google Shape;73;p15"/>
            <p:cNvSpPr/>
            <p:nvPr/>
          </p:nvSpPr>
          <p:spPr>
            <a:xfrm>
              <a:off x="0" y="0"/>
              <a:ext cx="21031200" cy="2651126"/>
            </a:xfrm>
            <a:custGeom>
              <a:rect b="b" l="l" r="r" t="t"/>
              <a:pathLst>
                <a:path extrusionOk="0"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74" name="Google Shape;74;p15"/>
            <p:cNvSpPr txBox="1"/>
            <p:nvPr/>
          </p:nvSpPr>
          <p:spPr>
            <a:xfrm>
              <a:off x="0" y="-66675"/>
              <a:ext cx="21031200" cy="271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rPr b="1" lang="en" sz="2302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What Can Go Wrong</a:t>
              </a:r>
              <a:endParaRPr sz="1702"/>
            </a:p>
          </p:txBody>
        </p:sp>
      </p:grpSp>
      <p:sp>
        <p:nvSpPr>
          <p:cNvPr id="75" name="Google Shape;75;p15"/>
          <p:cNvSpPr/>
          <p:nvPr/>
        </p:nvSpPr>
        <p:spPr>
          <a:xfrm>
            <a:off x="582303" y="128162"/>
            <a:ext cx="1888376" cy="786449"/>
          </a:xfrm>
          <a:custGeom>
            <a:rect b="b" l="l" r="r" t="t"/>
            <a:pathLst>
              <a:path extrusionOk="0" h="1621545" w="3893559">
                <a:moveTo>
                  <a:pt x="0" y="0"/>
                </a:moveTo>
                <a:lnTo>
                  <a:pt x="3893558" y="0"/>
                </a:lnTo>
                <a:lnTo>
                  <a:pt x="3893558" y="1621545"/>
                </a:lnTo>
                <a:lnTo>
                  <a:pt x="0" y="16215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23699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Successful ML deployment requires reproducibility.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Lock exact versions in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requirements.txt</a:t>
            </a:r>
            <a:r>
              <a:rPr lang="en" sz="1300">
                <a:solidFill>
                  <a:schemeClr val="dk1"/>
                </a:solidFill>
              </a:rPr>
              <a:t>, </a:t>
            </a:r>
            <a:r>
              <a:rPr lang="e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environment.yml</a:t>
            </a:r>
            <a:r>
              <a:rPr lang="en" sz="1300">
                <a:solidFill>
                  <a:schemeClr val="dk1"/>
                </a:solidFill>
              </a:rPr>
              <a:t>, or lock files (Poetry/Pipenv).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Use </a:t>
            </a:r>
            <a:r>
              <a:rPr b="1" lang="en" sz="1300">
                <a:solidFill>
                  <a:schemeClr val="dk1"/>
                </a:solidFill>
              </a:rPr>
              <a:t>Docker</a:t>
            </a:r>
            <a:r>
              <a:rPr lang="en" sz="1300">
                <a:solidFill>
                  <a:schemeClr val="dk1"/>
                </a:solidFill>
              </a:rPr>
              <a:t> so development and production run the same OS, Python, and dependencies.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Save environment metadata with each model (Python version, library versions, image hash).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Store the preprocessing pipeline version along with the model binary.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Keep a structured record of training dataset version and configuration.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Goal:</a:t>
            </a:r>
            <a:r>
              <a:rPr lang="en" sz="1300">
                <a:solidFill>
                  <a:schemeClr val="dk1"/>
                </a:solidFill>
              </a:rPr>
              <a:t> Anyone should be able to reproduce the model exactly months later.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grpSp>
        <p:nvGrpSpPr>
          <p:cNvPr id="81" name="Google Shape;81;p16"/>
          <p:cNvGrpSpPr/>
          <p:nvPr/>
        </p:nvGrpSpPr>
        <p:grpSpPr>
          <a:xfrm>
            <a:off x="908444" y="103899"/>
            <a:ext cx="7653254" cy="989008"/>
            <a:chOff x="0" y="-66675"/>
            <a:chExt cx="21031200" cy="2717801"/>
          </a:xfrm>
        </p:grpSpPr>
        <p:sp>
          <p:nvSpPr>
            <p:cNvPr id="82" name="Google Shape;82;p16"/>
            <p:cNvSpPr/>
            <p:nvPr/>
          </p:nvSpPr>
          <p:spPr>
            <a:xfrm>
              <a:off x="0" y="0"/>
              <a:ext cx="21031200" cy="2651126"/>
            </a:xfrm>
            <a:custGeom>
              <a:rect b="b" l="l" r="r" t="t"/>
              <a:pathLst>
                <a:path extrusionOk="0"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83" name="Google Shape;83;p16"/>
            <p:cNvSpPr txBox="1"/>
            <p:nvPr/>
          </p:nvSpPr>
          <p:spPr>
            <a:xfrm>
              <a:off x="0" y="-66675"/>
              <a:ext cx="21031200" cy="271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rPr b="1" lang="en" sz="2302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Techniques to Ensure Environment Consistency</a:t>
              </a:r>
              <a:endParaRPr sz="1702"/>
            </a:p>
          </p:txBody>
        </p:sp>
      </p:grpSp>
      <p:sp>
        <p:nvSpPr>
          <p:cNvPr id="84" name="Google Shape;84;p16"/>
          <p:cNvSpPr/>
          <p:nvPr/>
        </p:nvSpPr>
        <p:spPr>
          <a:xfrm>
            <a:off x="582303" y="128162"/>
            <a:ext cx="1888376" cy="786449"/>
          </a:xfrm>
          <a:custGeom>
            <a:rect b="b" l="l" r="r" t="t"/>
            <a:pathLst>
              <a:path extrusionOk="0" h="1621545" w="3893559">
                <a:moveTo>
                  <a:pt x="0" y="0"/>
                </a:moveTo>
                <a:lnTo>
                  <a:pt x="3893558" y="0"/>
                </a:lnTo>
                <a:lnTo>
                  <a:pt x="3893558" y="1621545"/>
                </a:lnTo>
                <a:lnTo>
                  <a:pt x="0" y="16215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23699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Organizations prevent environment drift by treating ML like software engineering.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CI/CD pipelines automatically test predictions before deployment.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Deployment is blocked if output deviates beyond a defined tolerance.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 Infrastructure as Code so no engineer “installs by hand.”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Register every model (MLflow, SageMaker, Vertex AI) along with its environment snapshot.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 controlled, reviewed upgrades through semantic versioning.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Bottom line:</a:t>
            </a:r>
            <a:r>
              <a:rPr lang="en" sz="1100">
                <a:solidFill>
                  <a:schemeClr val="dk1"/>
                </a:solidFill>
              </a:rPr>
              <a:t> Stable environment = stable predictions = trustworthy ML.</a:t>
            </a:r>
            <a:endParaRPr sz="1300">
              <a:solidFill>
                <a:schemeClr val="dk1"/>
              </a:solidFill>
            </a:endParaRPr>
          </a:p>
        </p:txBody>
      </p:sp>
      <p:grpSp>
        <p:nvGrpSpPr>
          <p:cNvPr id="90" name="Google Shape;90;p17"/>
          <p:cNvGrpSpPr/>
          <p:nvPr/>
        </p:nvGrpSpPr>
        <p:grpSpPr>
          <a:xfrm>
            <a:off x="908444" y="103899"/>
            <a:ext cx="7653254" cy="989008"/>
            <a:chOff x="0" y="-66675"/>
            <a:chExt cx="21031200" cy="2717801"/>
          </a:xfrm>
        </p:grpSpPr>
        <p:sp>
          <p:nvSpPr>
            <p:cNvPr id="91" name="Google Shape;91;p17"/>
            <p:cNvSpPr/>
            <p:nvPr/>
          </p:nvSpPr>
          <p:spPr>
            <a:xfrm>
              <a:off x="0" y="0"/>
              <a:ext cx="21031200" cy="2651126"/>
            </a:xfrm>
            <a:custGeom>
              <a:rect b="b" l="l" r="r" t="t"/>
              <a:pathLst>
                <a:path extrusionOk="0" h="2651126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2" name="Google Shape;92;p17"/>
            <p:cNvSpPr txBox="1"/>
            <p:nvPr/>
          </p:nvSpPr>
          <p:spPr>
            <a:xfrm>
              <a:off x="0" y="-66675"/>
              <a:ext cx="21031200" cy="271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302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Enterprise-Level Production Best Practices</a:t>
              </a:r>
              <a:endParaRPr sz="1702"/>
            </a:p>
          </p:txBody>
        </p:sp>
      </p:grpSp>
      <p:sp>
        <p:nvSpPr>
          <p:cNvPr id="93" name="Google Shape;93;p17"/>
          <p:cNvSpPr/>
          <p:nvPr/>
        </p:nvSpPr>
        <p:spPr>
          <a:xfrm>
            <a:off x="582303" y="128162"/>
            <a:ext cx="1888376" cy="786449"/>
          </a:xfrm>
          <a:custGeom>
            <a:rect b="b" l="l" r="r" t="t"/>
            <a:pathLst>
              <a:path extrusionOk="0" h="1621545" w="3893559">
                <a:moveTo>
                  <a:pt x="0" y="0"/>
                </a:moveTo>
                <a:lnTo>
                  <a:pt x="3893558" y="0"/>
                </a:lnTo>
                <a:lnTo>
                  <a:pt x="3893558" y="1621545"/>
                </a:lnTo>
                <a:lnTo>
                  <a:pt x="0" y="16215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23699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