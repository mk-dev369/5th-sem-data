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Bookmania" charset="1" panose="00000500000000000000"/>
      <p:regular r:id="rId11"/>
    </p:embeddedFont>
    <p:embeddedFont>
      <p:font typeface="Calibri (MS) Bold" charset="1" panose="020F0702030404030204"/>
      <p:regular r:id="rId12"/>
    </p:embeddedFont>
    <p:embeddedFont>
      <p:font typeface="Bookmania Bold" charset="1" panose="00000800000000000000"/>
      <p:regular r:id="rId13"/>
    </p:embeddedFont>
    <p:embeddedFont>
      <p:font typeface="Times New Roman" charset="1" panose="02020603050405020304"/>
      <p:regular r:id="rId14"/>
    </p:embeddedFont>
    <p:embeddedFont>
      <p:font typeface="Times New Roman Bold" charset="1" panose="020208030705050203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86840" y="2945832"/>
            <a:ext cx="15514320" cy="6779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sz="4100">
                <a:solidFill>
                  <a:srgbClr val="002060"/>
                </a:solidFill>
                <a:latin typeface="Bookmania"/>
                <a:ea typeface="Bookmania"/>
                <a:cs typeface="Bookmania"/>
                <a:sym typeface="Bookmania"/>
              </a:rPr>
              <a:t>Case Study</a:t>
            </a:r>
          </a:p>
          <a:p>
            <a:pPr algn="ctr">
              <a:lnSpc>
                <a:spcPts val="4920"/>
              </a:lnSpc>
            </a:pPr>
          </a:p>
          <a:p>
            <a:pPr algn="just">
              <a:lnSpc>
                <a:spcPts val="3840"/>
              </a:lnSpc>
            </a:pPr>
            <a:r>
              <a:rPr lang="en-US" sz="3200">
                <a:solidFill>
                  <a:srgbClr val="002060"/>
                </a:solidFill>
                <a:latin typeface="Bookmania"/>
                <a:ea typeface="Bookmania"/>
                <a:cs typeface="Bookmania"/>
                <a:sym typeface="Bookmania"/>
              </a:rPr>
              <a:t>Question 3: Identify the sources of model risk in this scenario. How does poor</a:t>
            </a:r>
          </a:p>
          <a:p>
            <a:pPr algn="just">
              <a:lnSpc>
                <a:spcPts val="3840"/>
              </a:lnSpc>
            </a:pPr>
            <a:r>
              <a:rPr lang="en-US" sz="3200">
                <a:solidFill>
                  <a:srgbClr val="002060"/>
                </a:solidFill>
                <a:latin typeface="Bookmania"/>
                <a:ea typeface="Bookmania"/>
                <a:cs typeface="Bookmania"/>
                <a:sym typeface="Bookmania"/>
              </a:rPr>
              <a:t>performance on rare surgical claims illustrate the importance of evaluating</a:t>
            </a:r>
          </a:p>
          <a:p>
            <a:pPr algn="just">
              <a:lnSpc>
                <a:spcPts val="3840"/>
              </a:lnSpc>
            </a:pPr>
            <a:r>
              <a:rPr lang="en-US" sz="3200">
                <a:solidFill>
                  <a:srgbClr val="002060"/>
                </a:solidFill>
                <a:latin typeface="Bookmania"/>
                <a:ea typeface="Bookmania"/>
                <a:cs typeface="Bookmania"/>
                <a:sym typeface="Bookmania"/>
              </a:rPr>
              <a:t>model robustness across subpopulations?</a:t>
            </a:r>
          </a:p>
          <a:p>
            <a:pPr algn="l">
              <a:lnSpc>
                <a:spcPts val="4212"/>
              </a:lnSpc>
            </a:pPr>
          </a:p>
          <a:p>
            <a:pPr algn="l">
              <a:lnSpc>
                <a:spcPts val="5616"/>
              </a:lnSpc>
            </a:pPr>
            <a:r>
              <a:rPr lang="en-US" sz="4800">
                <a:solidFill>
                  <a:srgbClr val="002060"/>
                </a:solidFill>
                <a:latin typeface="Bookmania"/>
                <a:ea typeface="Bookmania"/>
                <a:cs typeface="Bookmania"/>
                <a:sym typeface="Bookmania"/>
              </a:rPr>
              <a:t>Team Members: </a:t>
            </a:r>
          </a:p>
          <a:p>
            <a:pPr algn="l">
              <a:lnSpc>
                <a:spcPts val="5616"/>
              </a:lnSpc>
            </a:pPr>
          </a:p>
          <a:p>
            <a:pPr algn="l">
              <a:lnSpc>
                <a:spcPts val="4212"/>
              </a:lnSpc>
            </a:pPr>
            <a:r>
              <a:rPr lang="en-US" sz="36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Gnanendra Naidu N                    1RV23AI035</a:t>
            </a:r>
          </a:p>
          <a:p>
            <a:pPr algn="l">
              <a:lnSpc>
                <a:spcPts val="4212"/>
              </a:lnSpc>
            </a:pPr>
            <a:r>
              <a:rPr lang="en-US" sz="36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Aditya Ranjan                              1RV23AI008</a:t>
            </a:r>
          </a:p>
          <a:p>
            <a:pPr algn="l">
              <a:lnSpc>
                <a:spcPts val="4212"/>
              </a:lnSpc>
            </a:pPr>
            <a:r>
              <a:rPr lang="en-US" sz="36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Garv Agarwalla                            1RV23AI034</a:t>
            </a:r>
          </a:p>
          <a:p>
            <a:pPr algn="l">
              <a:lnSpc>
                <a:spcPts val="4212"/>
              </a:lnSpc>
            </a:pPr>
            <a:r>
              <a:rPr lang="en-US" sz="36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Diptanshu Kumar                        1RV23AI033</a:t>
            </a:r>
          </a:p>
        </p:txBody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13773751" y="164142"/>
            <a:ext cx="4377590" cy="817635"/>
            <a:chOff x="0" y="0"/>
            <a:chExt cx="5836786" cy="109018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36793" cy="1090168"/>
            </a:xfrm>
            <a:custGeom>
              <a:avLst/>
              <a:gdLst/>
              <a:ahLst/>
              <a:cxnLst/>
              <a:rect r="r" b="b" t="t" l="l"/>
              <a:pathLst>
                <a:path h="1090168" w="5836793">
                  <a:moveTo>
                    <a:pt x="0" y="0"/>
                  </a:moveTo>
                  <a:lnTo>
                    <a:pt x="5836793" y="0"/>
                  </a:lnTo>
                  <a:lnTo>
                    <a:pt x="5836793" y="1090168"/>
                  </a:lnTo>
                  <a:lnTo>
                    <a:pt x="0" y="10901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9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585138" y="366732"/>
            <a:ext cx="3893559" cy="1621545"/>
          </a:xfrm>
          <a:custGeom>
            <a:avLst/>
            <a:gdLst/>
            <a:ahLst/>
            <a:cxnLst/>
            <a:rect r="r" b="b" t="t" l="l"/>
            <a:pathLst>
              <a:path h="1621545" w="3893559">
                <a:moveTo>
                  <a:pt x="0" y="0"/>
                </a:moveTo>
                <a:lnTo>
                  <a:pt x="3893558" y="0"/>
                </a:lnTo>
                <a:lnTo>
                  <a:pt x="3893558" y="1621545"/>
                </a:lnTo>
                <a:lnTo>
                  <a:pt x="0" y="16215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23703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79253" y="1779330"/>
            <a:ext cx="16729494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true">
                <a:solidFill>
                  <a:srgbClr val="002060"/>
                </a:solidFill>
                <a:latin typeface="Bookmania Bold"/>
                <a:ea typeface="Bookmania Bold"/>
                <a:cs typeface="Bookmania Bold"/>
                <a:sym typeface="Bookmania Bold"/>
              </a:rPr>
              <a:t>Machine Learning Operations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48740" y="3022854"/>
            <a:ext cx="15590520" cy="4174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43"/>
              </a:lnSpc>
            </a:pPr>
            <a:r>
              <a:rPr lang="en-US" sz="4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MedInsure claim-approval model faces key risks such as environment mismatches, missing features, a</a:t>
            </a:r>
            <a:r>
              <a:rPr lang="en-US" sz="4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nd uneven performance across claim types. Its poor results on rare surgical claims show that the model was not tested across subpopulations, </a:t>
            </a:r>
            <a:r>
              <a:rPr lang="en-US" sz="4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highlighting a lack of robustness and fairness in real-world scenarios.</a:t>
            </a:r>
          </a:p>
          <a:p>
            <a:pPr algn="l">
              <a:lnSpc>
                <a:spcPts val="5543"/>
              </a:lnSpc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1257300" y="366732"/>
            <a:ext cx="15773400" cy="1988345"/>
            <a:chOff x="0" y="0"/>
            <a:chExt cx="21031200" cy="265112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21031200" cy="27178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128"/>
                </a:lnSpc>
              </a:pPr>
              <a:r>
                <a:rPr lang="en-US" sz="6600" b="true">
                  <a:solidFill>
                    <a:srgbClr val="C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 STATEMENT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585138" y="366732"/>
            <a:ext cx="3893559" cy="1621545"/>
          </a:xfrm>
          <a:custGeom>
            <a:avLst/>
            <a:gdLst/>
            <a:ahLst/>
            <a:cxnLst/>
            <a:rect r="r" b="b" t="t" l="l"/>
            <a:pathLst>
              <a:path h="1621545" w="3893559">
                <a:moveTo>
                  <a:pt x="0" y="0"/>
                </a:moveTo>
                <a:lnTo>
                  <a:pt x="3893558" y="0"/>
                </a:lnTo>
                <a:lnTo>
                  <a:pt x="3893558" y="1621545"/>
                </a:lnTo>
                <a:lnTo>
                  <a:pt x="0" y="16215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3703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1988345"/>
            <a:chOff x="0" y="0"/>
            <a:chExt cx="21031200" cy="26511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1031200" cy="27178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128"/>
                </a:lnSpc>
              </a:pPr>
              <a:r>
                <a:rPr lang="en-US" sz="6600" b="true">
                  <a:solidFill>
                    <a:srgbClr val="C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Problems Identified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62288" y="2803277"/>
            <a:ext cx="16468412" cy="6260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6775" indent="-453388" lvl="1">
              <a:lnSpc>
                <a:spcPts val="5543"/>
              </a:lnSpc>
              <a:buFont typeface="Arial"/>
              <a:buChar char="•"/>
            </a:pPr>
            <a:r>
              <a:rPr lang="en-US" sz="4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US" sz="4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odel risk arises from</a:t>
            </a:r>
            <a:r>
              <a:rPr lang="en-US" sz="4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true" sz="41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poor performance on under-represented subpopulations</a:t>
            </a:r>
            <a:r>
              <a:rPr lang="en-US" sz="4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(e.g., rare surgical claims).</a:t>
            </a:r>
          </a:p>
          <a:p>
            <a:pPr algn="l" marL="906775" indent="-453388" lvl="1">
              <a:lnSpc>
                <a:spcPts val="5543"/>
              </a:lnSpc>
              <a:buFont typeface="Arial"/>
              <a:buChar char="•"/>
            </a:pPr>
            <a:r>
              <a:rPr lang="en-US" b="true" sz="41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Training data imbalance</a:t>
            </a:r>
            <a:r>
              <a:rPr lang="en-US" sz="4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leads to biased or unreliable predictions for rare procedures.</a:t>
            </a:r>
          </a:p>
          <a:p>
            <a:pPr algn="l" marL="906775" indent="-453388" lvl="1">
              <a:lnSpc>
                <a:spcPts val="5543"/>
              </a:lnSpc>
              <a:buFont typeface="Arial"/>
              <a:buChar char="•"/>
            </a:pPr>
            <a:r>
              <a:rPr lang="en-US" b="true" sz="41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</a:t>
            </a:r>
            <a:r>
              <a:rPr lang="en-US" b="true" sz="41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ack of subpopulation-level evaluation</a:t>
            </a:r>
            <a:r>
              <a:rPr lang="en-US" sz="4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reduces trust and fairness in real-world deployment.</a:t>
            </a:r>
          </a:p>
          <a:p>
            <a:pPr algn="l" marL="906775" indent="-453388" lvl="1">
              <a:lnSpc>
                <a:spcPts val="5543"/>
              </a:lnSpc>
              <a:buFont typeface="Arial"/>
              <a:buChar char="•"/>
            </a:pPr>
            <a:r>
              <a:rPr lang="en-US" sz="4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</a:t>
            </a:r>
            <a:r>
              <a:rPr lang="en-US" sz="4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 appears accurate overall but </a:t>
            </a:r>
            <a:r>
              <a:rPr lang="en-US" b="true" sz="41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fails on critical edge cases</a:t>
            </a:r>
            <a:r>
              <a:rPr lang="en-US" sz="4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indicating weak robustness.</a:t>
            </a:r>
          </a:p>
          <a:p>
            <a:pPr algn="l">
              <a:lnSpc>
                <a:spcPts val="5543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585138" y="366732"/>
            <a:ext cx="3893559" cy="1621545"/>
          </a:xfrm>
          <a:custGeom>
            <a:avLst/>
            <a:gdLst/>
            <a:ahLst/>
            <a:cxnLst/>
            <a:rect r="r" b="b" t="t" l="l"/>
            <a:pathLst>
              <a:path h="1621545" w="3893559">
                <a:moveTo>
                  <a:pt x="0" y="0"/>
                </a:moveTo>
                <a:lnTo>
                  <a:pt x="3893558" y="0"/>
                </a:lnTo>
                <a:lnTo>
                  <a:pt x="3893558" y="1621545"/>
                </a:lnTo>
                <a:lnTo>
                  <a:pt x="0" y="16215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3703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1988345"/>
            <a:chOff x="0" y="0"/>
            <a:chExt cx="21031200" cy="26511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1031200" cy="27178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128"/>
                </a:lnSpc>
              </a:pPr>
              <a:r>
                <a:rPr lang="en-US" sz="6600" b="true">
                  <a:solidFill>
                    <a:srgbClr val="C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Solution to the problem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62288" y="2803277"/>
            <a:ext cx="16468412" cy="6260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6775" indent="-453388" lvl="1">
              <a:lnSpc>
                <a:spcPts val="5543"/>
              </a:lnSpc>
              <a:buFont typeface="Arial"/>
              <a:buChar char="•"/>
            </a:pPr>
            <a:r>
              <a:rPr lang="en-US" b="true" sz="41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Enhanc</a:t>
            </a:r>
            <a:r>
              <a:rPr lang="en-US" b="true" sz="41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 Dataset C</a:t>
            </a:r>
            <a:r>
              <a:rPr lang="en-US" b="true" sz="41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overage:</a:t>
            </a:r>
            <a:r>
              <a:rPr lang="en-US" sz="4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Expand or augment data for rare surgical procedures to reduce bias.</a:t>
            </a:r>
          </a:p>
          <a:p>
            <a:pPr algn="l" marL="906775" indent="-453388" lvl="1">
              <a:lnSpc>
                <a:spcPts val="5543"/>
              </a:lnSpc>
              <a:buFont typeface="Arial"/>
              <a:buChar char="•"/>
            </a:pPr>
            <a:r>
              <a:rPr lang="en-US" b="true" sz="41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Subpopul</a:t>
            </a:r>
            <a:r>
              <a:rPr lang="en-US" b="true" sz="41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ation Testing:</a:t>
            </a:r>
            <a:r>
              <a:rPr lang="en-US" sz="4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Evaluate model performance separately across claim categories to uncover hidden risks.</a:t>
            </a:r>
          </a:p>
          <a:p>
            <a:pPr algn="l" marL="906775" indent="-453388" lvl="1">
              <a:lnSpc>
                <a:spcPts val="5543"/>
              </a:lnSpc>
              <a:buFont typeface="Arial"/>
              <a:buChar char="•"/>
            </a:pPr>
            <a:r>
              <a:rPr lang="en-US" b="true" sz="41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Model Refinement:</a:t>
            </a:r>
            <a:r>
              <a:rPr lang="en-US" sz="4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Retrain or fine-tune the model using balanced and diverse samples.</a:t>
            </a:r>
          </a:p>
          <a:p>
            <a:pPr algn="l" marL="906775" indent="-453388" lvl="1">
              <a:lnSpc>
                <a:spcPts val="5543"/>
              </a:lnSpc>
              <a:buFont typeface="Arial"/>
              <a:buChar char="•"/>
            </a:pPr>
            <a:r>
              <a:rPr lang="en-US" b="true" sz="41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Continuous</a:t>
            </a:r>
            <a:r>
              <a:rPr lang="en-US" b="true" sz="41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Monitoring:</a:t>
            </a:r>
            <a:r>
              <a:rPr lang="en-US" sz="4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Track real-time performance on rare and high-risk subgroups to ensure ongoing robustness.</a:t>
            </a:r>
          </a:p>
          <a:p>
            <a:pPr algn="l">
              <a:lnSpc>
                <a:spcPts val="5543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585138" y="366732"/>
            <a:ext cx="3893559" cy="1621545"/>
          </a:xfrm>
          <a:custGeom>
            <a:avLst/>
            <a:gdLst/>
            <a:ahLst/>
            <a:cxnLst/>
            <a:rect r="r" b="b" t="t" l="l"/>
            <a:pathLst>
              <a:path h="1621545" w="3893559">
                <a:moveTo>
                  <a:pt x="0" y="0"/>
                </a:moveTo>
                <a:lnTo>
                  <a:pt x="3893558" y="0"/>
                </a:lnTo>
                <a:lnTo>
                  <a:pt x="3893558" y="1621545"/>
                </a:lnTo>
                <a:lnTo>
                  <a:pt x="0" y="16215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3703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85138" y="366732"/>
            <a:ext cx="3893559" cy="1621545"/>
          </a:xfrm>
          <a:custGeom>
            <a:avLst/>
            <a:gdLst/>
            <a:ahLst/>
            <a:cxnLst/>
            <a:rect r="r" b="b" t="t" l="l"/>
            <a:pathLst>
              <a:path h="1621545" w="3893559">
                <a:moveTo>
                  <a:pt x="0" y="0"/>
                </a:moveTo>
                <a:lnTo>
                  <a:pt x="3893558" y="0"/>
                </a:lnTo>
                <a:lnTo>
                  <a:pt x="3893558" y="1621545"/>
                </a:lnTo>
                <a:lnTo>
                  <a:pt x="0" y="16215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3703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805594" y="1988277"/>
            <a:ext cx="6676811" cy="6493199"/>
          </a:xfrm>
          <a:custGeom>
            <a:avLst/>
            <a:gdLst/>
            <a:ahLst/>
            <a:cxnLst/>
            <a:rect r="r" b="b" t="t" l="l"/>
            <a:pathLst>
              <a:path h="6493199" w="6676811">
                <a:moveTo>
                  <a:pt x="0" y="0"/>
                </a:moveTo>
                <a:lnTo>
                  <a:pt x="6676812" y="0"/>
                </a:lnTo>
                <a:lnTo>
                  <a:pt x="6676812" y="6493199"/>
                </a:lnTo>
                <a:lnTo>
                  <a:pt x="0" y="64931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DAG6P6mSpVI</dc:identifier>
  <dcterms:modified xsi:type="dcterms:W3CDTF">2011-08-01T06:04:30Z</dcterms:modified>
  <cp:revision>1</cp:revision>
  <dc:title>Copy of PoME-phase1.pptx</dc:title>
</cp:coreProperties>
</file>